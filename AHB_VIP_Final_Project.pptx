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88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home/claude/imgs/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601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 AHB PROTOCOL  |  VERIFICATION IP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4069080"/>
            <a:ext cx="1280160" cy="0"/>
          </a:xfrm>
          <a:prstGeom prst="line">
            <a:avLst/>
          </a:prstGeom>
          <a:noFill/>
          <a:ln w="38100">
            <a:solidFill>
              <a:srgbClr val="EFB1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43525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Master / Slave Verification IP - Functional &amp; Assertion-Based Verification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6" name="Image 0" descr="/home/claude/imgs/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5740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17320" y="1874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AHB Protocol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160520" y="1691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93852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1" name="Image 1" descr="/home/claude/img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05740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0" y="1874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772400" y="1691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01000" y="193852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6" name="Image 2" descr="/home/claude/imgs/chi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05740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641080" y="1874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Architecture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1" name="Image 3" descr="/home/claude/img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70332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41732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Plan (V-Plan)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160520" y="33375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89120" y="35844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6" name="Image 4" descr="/home/claude/imgs/exchan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703320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8912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02920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Slave Side Operation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7772400" y="33375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01000" y="358444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1" name="Image 5" descr="/home/claude/img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9872" y="3703320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0100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864108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Methodology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548640" y="49834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23036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6" name="Image 6" descr="/home/claude/imgs/wav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5349240"/>
            <a:ext cx="265176" cy="2651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7240" y="5852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417320" y="5166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Waveforms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4160520" y="49834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389120" y="523036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41" name="Image 7" descr="/home/claude/imgs/char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7992" y="5349240"/>
            <a:ext cx="265176" cy="26517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389120" y="5852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029200" y="5166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Assertion Results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7772400" y="49834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001000" y="5230368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46" name="Image 8" descr="/home/claude/imgs/bulb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9872" y="5349240"/>
            <a:ext cx="265176" cy="26517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001000" y="5852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8641080" y="5166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Challenges</a:t>
            </a:r>
            <a:endParaRPr lang="en-US" sz="1350" dirty="0"/>
          </a:p>
        </p:txBody>
      </p:sp>
      <p:sp>
        <p:nvSpPr>
          <p:cNvPr id="49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AHB Protocol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(Advanced High-performance Bus) is part of ARM's AMBA bus family, designed for high-bandwidth, pipelined on-chip communication.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one or more Masters to one or more Slaves through a central interconnect / arbiter / decoder.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Single-channel, non-pipelined-data bus: address and control are pipelined one cycle ahead of data.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single transfers, burst transfers, wait-state insertion and split/error responses from slaves.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self-checking AHB Verification IP (Master + Slave agents, scoreboard and coverage) to validate AHB-compliant DUT behaviour.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0" y="21031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34074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21031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01000" y="324612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58200" y="2834640"/>
            <a:ext cx="0" cy="411480"/>
          </a:xfrm>
          <a:prstGeom prst="line">
            <a:avLst/>
          </a:prstGeom>
          <a:noFill/>
          <a:ln w="25400">
            <a:solidFill>
              <a:srgbClr val="3C6E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0" y="3886200"/>
            <a:ext cx="0" cy="365760"/>
          </a:xfrm>
          <a:prstGeom prst="line">
            <a:avLst/>
          </a:prstGeom>
          <a:noFill/>
          <a:ln w="25400">
            <a:solidFill>
              <a:srgbClr val="3C6E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4251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3C6E9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4251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drives address/control;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returns data &amp; response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img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9280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AHB Master &amp; Slave Verification IP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1248" y="2560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driver/monitor agents driven through SystemVerilog clocking blocks (mdrv_cb) for a clean, race-free testbench.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img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94767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89280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AHB transfer protocol exhaustively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73368" y="2560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transfers, transfers with wait states, multi-beat bursts, and IDLE/BUSY/error transitions on HTRANS.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/home/claude/img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0965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416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DUT behaviour with a scoreboard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41248" y="47091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expected HRDATA / HRESP and automatically compare against monitored values every transaction.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80760" y="384048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/home/claude/img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40965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40416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complete functional &amp; assertion coverage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373368" y="47091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covergroup bins and protocol assertions to provide a sign-off-quality coverage report.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340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37944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71700"/>
            <a:ext cx="173736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178308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340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837944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Driver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171700"/>
            <a:ext cx="173736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mdrv_cb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clocking block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37944"/>
            <a:ext cx="17373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71700"/>
            <a:ext cx="164592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signals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178308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EFB1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837944"/>
            <a:ext cx="192024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171700"/>
            <a:ext cx="182880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Interconnect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Memory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81160" y="178308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3C6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837944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Driver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0" y="2171700"/>
            <a:ext cx="178308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720" y="2171700"/>
            <a:ext cx="36576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26280" y="2171700"/>
            <a:ext cx="36576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29400" y="2171700"/>
            <a:ext cx="36576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15400" y="2171700"/>
            <a:ext cx="36576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97480" y="342900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340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483864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Monitor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3817620"/>
            <a:ext cx="173736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driven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81160" y="342900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3C6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483864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Monitor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3817620"/>
            <a:ext cx="178308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342900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483864"/>
            <a:ext cx="237744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97880" y="3817620"/>
            <a:ext cx="228600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vs Actual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0320"/>
            <a:ext cx="0" cy="868680"/>
          </a:xfrm>
          <a:prstGeom prst="line">
            <a:avLst/>
          </a:prstGeom>
          <a:noFill/>
          <a:ln w="15240">
            <a:solidFill>
              <a:srgbClr val="5B6B7F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222992" y="2560320"/>
            <a:ext cx="0" cy="868680"/>
          </a:xfrm>
          <a:prstGeom prst="line">
            <a:avLst/>
          </a:prstGeom>
          <a:noFill/>
          <a:ln w="15240">
            <a:solidFill>
              <a:srgbClr val="5B6B7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611880" y="2560320"/>
            <a:ext cx="0" cy="868680"/>
          </a:xfrm>
          <a:prstGeom prst="line">
            <a:avLst/>
          </a:prstGeom>
          <a:noFill/>
          <a:ln w="15240">
            <a:solidFill>
              <a:srgbClr val="5B6B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26280" y="3817620"/>
            <a:ext cx="118872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183880" y="3817620"/>
            <a:ext cx="109728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411480" y="1463040"/>
            <a:ext cx="11384280" cy="2834640"/>
          </a:xfrm>
          <a:prstGeom prst="roundRect">
            <a:avLst>
              <a:gd name="adj" fmla="val 3226"/>
            </a:avLst>
          </a:prstGeom>
          <a:solidFill>
            <a:srgbClr val="FFFFFF">
              <a:alpha val="0"/>
            </a:srgbClr>
          </a:solidFill>
          <a:ln w="15875">
            <a:solidFill>
              <a:srgbClr val="3C6E91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02920" y="1490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6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ENVIRONMENT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800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result (Pass / Fail) is logged per-transaction and rolled up into the final coverage &amp; assertion report.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COVERAGE-DRIVEN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Plan (V-Plan)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16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read/write with no wait states (HTRANS = NONSEQ)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with Wait States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Slave inserts wait cycles via HREADY before completing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Transfers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Multi-beat SINGLE / INCR / WRAP bursts of varying HBURST &amp;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/ Busy Transfers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de-asserts transfer via IDLE / BUSY between beats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Slave 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OKAY and ERROR (HRESP) responses, including 2-cycle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Assertions +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Behaviour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signals return to default state on Hresetn assertion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THE MASTER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Side: Driver &amp; Monitor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6" name="Image 0" descr="/home/claude/imgs/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202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Driver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address/control phase signals on the rising edge: HADDR, HTRANS, HBURST, HSIZE, HWRITE.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HWDATA in the data phase, one clock after the address phase (pipelined).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SystemVerilog clocking block (mdrv_cb) so all signals are driven and sampled glitch-free relative to HCLK.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randomized transfer length, address and burst type as per the V-Plan.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3C6E91"/>
          </a:solidFill>
          <a:ln/>
        </p:spPr>
      </p:sp>
      <p:pic>
        <p:nvPicPr>
          <p:cNvPr id="11" name="Image 1" descr="/home/claude/imgs/wav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9202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Monitor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4688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Passively samples HADDR, HTRANS, HBURST, HWDATA and HRESP every clock without driving the bus.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each completed beat into a transaction object and forwards it to the Scoreboard.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HREADY to know exactly when a beat has actually completed (vs. wait-stated).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concurrently with the driver to provide an independent, non-intrusive check on what is really on the bus.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THE SLAVE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Side: Response Behaviour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3C6E91"/>
          </a:solidFill>
          <a:ln/>
        </p:spPr>
      </p:sp>
      <p:pic>
        <p:nvPicPr>
          <p:cNvPr id="6" name="Image 0" descr="/home/claude/img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476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Driver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every master-initiated transfer in one of three ways: complete immediately, insert one or more wait states, or signal an error.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HREADY low to extend a transfer and signal additional cycles are needed.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HRDATA for reads and accepts HWDATA for writes during the data phase.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 2-cycle ERROR response sequence per the AHB specification (HRESP = ERROR held across two beats).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1" name="Image 1" descr="/home/claude/img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9476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Monitor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4688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HRDATA and HRESP returned by the slave and timestamps them against the request.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HREADY/HRESP encoding matches the AHB rule table (Okay/Error x Pending/Done).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observed response to the Scoreboard for comparison against the reference model.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flag illegal HRESP transitions, e.g. an ERROR response not held for the required two cycles.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286000"/>
            <a:ext cx="640080" cy="640080"/>
          </a:xfrm>
          <a:prstGeom prst="ellipse">
            <a:avLst/>
          </a:prstGeom>
          <a:solidFill>
            <a:srgbClr val="EFB116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Monitor and Slave Monitor each forward a completed-transaction object to the Scoreboard.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3611880"/>
            <a:ext cx="21031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134074"/>
          </a:solidFill>
          <a:ln/>
        </p:spPr>
      </p:sp>
      <p:sp>
        <p:nvSpPr>
          <p:cNvPr id="11" name="Shape 9"/>
          <p:cNvSpPr/>
          <p:nvPr/>
        </p:nvSpPr>
        <p:spPr>
          <a:xfrm>
            <a:off x="4384548" y="2286000"/>
            <a:ext cx="640080" cy="640080"/>
          </a:xfrm>
          <a:prstGeom prst="ellipse">
            <a:avLst/>
          </a:prstGeom>
          <a:solidFill>
            <a:srgbClr val="EFB11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4548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model computes the expected HRDATA / HRESP for that address, size and access type.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25896" y="3611880"/>
            <a:ext cx="21031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0B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7476" y="2286000"/>
            <a:ext cx="640080" cy="640080"/>
          </a:xfrm>
          <a:prstGeom prst="ellipse">
            <a:avLst/>
          </a:prstGeom>
          <a:solidFill>
            <a:srgbClr val="EFB116"/>
          </a:solidFill>
          <a:ln/>
        </p:spPr>
      </p:sp>
      <p:sp>
        <p:nvSpPr>
          <p:cNvPr id="18" name="Text 16"/>
          <p:cNvSpPr/>
          <p:nvPr/>
        </p:nvSpPr>
        <p:spPr>
          <a:xfrm>
            <a:off x="7237476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91656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values are compared bit-for-bit against the values actually observed on the bus.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78824" y="3611880"/>
            <a:ext cx="21031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07424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13407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90404" y="2286000"/>
            <a:ext cx="640080" cy="640080"/>
          </a:xfrm>
          <a:prstGeom prst="ellipse">
            <a:avLst/>
          </a:prstGeom>
          <a:solidFill>
            <a:srgbClr val="EFB1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9040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44584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6024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Pass/Fail verdict is logged per transaction and rolled up into the final regression summary.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 is the single source of truth for functional correctness — every AHB beat driven by the Master must be matched by a correctly-predicted Slave response.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Waveform: Burst Write Transfer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160520"/>
          </a:xfrm>
          <a:prstGeom prst="roundRect">
            <a:avLst>
              <a:gd name="adj" fmla="val 879"/>
            </a:avLst>
          </a:prstGeom>
          <a:solidFill>
            <a:srgbClr val="000000"/>
          </a:solidFill>
          <a:ln/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imgs/Screenshot__463_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655064"/>
            <a:ext cx="11064240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HTRANS = NONSEQ, HBURST = INCR, HWRITE = 1: </a:t>
            </a: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successive write beats with auto-incrementing HADDR, captured identically by the in/ interface and the mdrv_cb clocking block.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Waveform: Read Transfer with Wait States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160520"/>
          </a:xfrm>
          <a:prstGeom prst="roundRect">
            <a:avLst>
              <a:gd name="adj" fmla="val 879"/>
            </a:avLst>
          </a:prstGeom>
          <a:solidFill>
            <a:srgbClr val="000000"/>
          </a:solidFill>
          <a:ln/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imgs/Screenshot__462_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655064"/>
            <a:ext cx="11064240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HWRITE = 0 (read), HREADY toggles low between beats: </a:t>
            </a: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slave inserts wait states before returning HRDATA (0x37, 0x32, 0x23 ...), exactly as predicted by the scoreboard.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COVERAGE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Assertion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59253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(pkg) instance - 100% coverage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1691640"/>
            <a:ext cx="544068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63640" y="59253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(top) instance - 100% coverage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4BFCF5-1937-0F6F-9AF0-D1BA9668F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85" y="1674273"/>
            <a:ext cx="5474496" cy="4269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C667DA-1668-E062-4D71-85E7A97D2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0" y="1691640"/>
            <a:ext cx="5455919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476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Passed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78308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9476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38728" y="2743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Covergroups @ 100%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78308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19476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91656" y="2743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Covergroup Bins Hit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78308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19476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44584" y="2743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2514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Coverpoints / Crosses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Covergroup Bins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EFB116"/>
          </a:solidFill>
          <a:ln/>
        </p:spPr>
      </p:sp>
      <p:pic>
        <p:nvPicPr>
          <p:cNvPr id="6" name="Image 0" descr="/home/claude/imgs/bul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understanding of the AHB protocol: address/data phase pipelining, HBURST/HTRANS encoding and slave response rules.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building a layered VIP - driver, monitor, scoreboard - using SystemVerilog clocking blocks for safe signal timing.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Coverage-driven verification methodology: writing a V-Plan first, then mapping it to covergroups and assertions.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debugging waveforms in Questa to correlate RTL behaviour with VIP-predicted results.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EFB116"/>
          </a:solidFill>
          <a:ln/>
        </p:spPr>
      </p:sp>
      <p:pic>
        <p:nvPicPr>
          <p:cNvPr id="11" name="Image 1" descr="/home/claude/imgs/bug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20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Faced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Synchronizing master and slave clocking blocks so that HREADY-driven wait states were sampled at exactly the right edge.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modelling the 2-cycle AHB ERROR response in the reference model used by the scoreboard.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and tracking back-to-back burst transfers with unaligned addresses without losing X/unknown data on HRDATA.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final corner-case coverage bins (idle-to-nonseq transitions, error-during-burst) needed extra directed tests.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VIP: Verified &amp; Coverage-Closed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21945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331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1772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Passed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331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B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7532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Master + Slave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AHB Master/Slave VIP correctly drives and checks basic, wait-stated, burst and error AHB transfers.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Scoreboard-based self-checking confirmed protocol-correct behaviour on every simulated transaction.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E6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functional and assertion coverage was achieved across the package and top-level instances.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5806440"/>
            <a:ext cx="1280160" cy="0"/>
          </a:xfrm>
          <a:prstGeom prst="line">
            <a:avLst/>
          </a:prstGeom>
          <a:noFill/>
          <a:ln w="38100">
            <a:solidFill>
              <a:srgbClr val="EFB1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Verification IP  |  Final Project Review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1409</Words>
  <Application>Microsoft Office PowerPoint</Application>
  <PresentationFormat>Widescreen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AHB Verification IP - Final Project Review</dc:title>
  <dc:subject>PptxGenJS Presentation</dc:subject>
  <dc:creator>Maven Silicon - AHB VIP Project</dc:creator>
  <cp:lastModifiedBy>chaituchowdary.2807@gmail.com</cp:lastModifiedBy>
  <cp:revision>3</cp:revision>
  <dcterms:created xsi:type="dcterms:W3CDTF">2026-06-23T06:24:26Z</dcterms:created>
  <dcterms:modified xsi:type="dcterms:W3CDTF">2026-06-23T07:00:48Z</dcterms:modified>
</cp:coreProperties>
</file>